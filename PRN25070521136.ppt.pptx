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SemiBold"/>
      <p:regular r:id="rId201314"/>
    </p:embeddedFont>
    <p:embeddedFont>
      <p:font typeface="IBM Plex Mono"/>
      <p:regular r:id="rId201315"/>
    </p:embeddedFont>
    <p:embeddedFont>
      <p:font typeface="IBM Plex Mono Bold"/>
      <p:regular r:id="rId201316"/>
    </p:embeddedFont>
    <p:embeddedFont>
      <p:font typeface="Wix Madefor Text"/>
      <p:regular r:id="rId201317"/>
    </p:embeddedFont>
    <p:embeddedFont>
      <p:font typeface="Wix Madefor Text SemiBold"/>
      <p:regular r:id="rId201318"/>
    </p:embeddedFont>
    <p:embeddedFont>
      <p:font typeface="Wix Madefor Text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1684695"/>
            <a:ext cx="53846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ALGORITHMS · GRAPH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182" y="2051448"/>
            <a:ext cx="4927477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Dijkstra's Algorithm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711182" y="4010640"/>
            <a:ext cx="538466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Single-source shortest paths in weighted graphs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1182" y="4488458"/>
            <a:ext cx="1626055" cy="19050"/>
          </a:xfrm>
          <a:prstGeom prst="roundRect">
            <a:avLst>
              <a:gd name="adj" fmla="val 49999"/>
            </a:avLst>
          </a:prstGeom>
          <a:solidFill>
            <a:srgbClr val="E8664A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4710708"/>
            <a:ext cx="4927477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Name: Vanshika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PRN: 25070521136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Section: C, Sem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182" y="5945227"/>
            <a:ext cx="538466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Generated using: Gamma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40" cy="64008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32753"/>
            <a:ext cx="437385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0990" y="701361"/>
            <a:ext cx="3992859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What problem does Dijkstra solve?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0990" y="4979983"/>
            <a:ext cx="399285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SSSP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80990" y="5724604"/>
            <a:ext cx="4373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Single-Source Shortest Path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722" y="859532"/>
            <a:ext cx="6217784" cy="2681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36684" y="1179100"/>
            <a:ext cx="3419308" cy="169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Source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36684" y="1800879"/>
            <a:ext cx="3419308" cy="169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Edge Weight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36684" y="2416440"/>
            <a:ext cx="3419308" cy="169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36684" y="3032000"/>
            <a:ext cx="3419308" cy="169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Minimum-Cost Path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16722" y="3614797"/>
            <a:ext cx="667497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network becomes a shortest-path problem when locations are connected by costs.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16722" y="3959225"/>
            <a:ext cx="6217784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Find the minimum-cost path from one source vertex to every other destination.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Works on weighted, directed or undirected graphs with non-negative edge weights.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Useful whenever a network can be modeled as locations connected by costs.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866663" y="6542286"/>
            <a:ext cx="32503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17201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STRATEGY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685810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core idea is greedy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2569125"/>
            <a:ext cx="112773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Make the smallest safe choice, then expand from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2997895"/>
            <a:ext cx="6983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189" y="3251169"/>
            <a:ext cx="355591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Track tentative distances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189" y="3639225"/>
            <a:ext cx="355591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Keep a tentative distance for every vertex.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7892" y="2997895"/>
            <a:ext cx="70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17892" y="3251169"/>
            <a:ext cx="355591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Choose the smallest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17892" y="3639225"/>
            <a:ext cx="35559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Choose the unvisited vertex with the smallest tentative distance.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78595" y="2997895"/>
            <a:ext cx="7152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78595" y="3251169"/>
            <a:ext cx="355591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Finalize and relax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78595" y="3639225"/>
            <a:ext cx="35559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Finalize it, then try to improve its neighbors.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189" y="4291211"/>
            <a:ext cx="11277318" cy="693341"/>
          </a:xfrm>
          <a:prstGeom prst="roundRect">
            <a:avLst>
              <a:gd name="adj" fmla="val 10770"/>
            </a:avLst>
          </a:prstGeom>
          <a:solidFill>
            <a:srgbClr val="B6FCB8"/>
          </a:solidFill>
          <a:ln/>
        </p:spPr>
      </p:sp>
      <p:sp>
        <p:nvSpPr>
          <p:cNvPr id="15" name="Text 13"/>
          <p:cNvSpPr/>
          <p:nvPr/>
        </p:nvSpPr>
        <p:spPr>
          <a:xfrm>
            <a:off x="634984" y="4517906"/>
            <a:ext cx="1153131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Why is this safe?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Non-negative weights make the finalized choice safe.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61900" y="6542286"/>
            <a:ext cx="32979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99750"/>
            <a:ext cx="52882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UPDATE RULE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68359"/>
            <a:ext cx="4831039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Edge relaxation updates the best-known cost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3449816"/>
            <a:ext cx="48310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For an edge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u → v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with weight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w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, compare the current route with a route through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u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4101802"/>
            <a:ext cx="4831039" cy="6060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4866580"/>
            <a:ext cx="4831039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Start with dist[source] = 0.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Set every other distance to ∞.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Record the predecessor when a shorter route is found.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900" y="1295400"/>
            <a:ext cx="3809905" cy="38099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5798" y="1895665"/>
            <a:ext cx="1226138" cy="10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Current State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7585799" y="2073225"/>
            <a:ext cx="1226138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dist[u], dist[v], predecessor shown for comparison.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433578" y="1895665"/>
            <a:ext cx="1226137" cy="10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Edge Check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9433578" y="2073225"/>
            <a:ext cx="1226137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Consider edge u→v with weight w to test path.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585798" y="3743491"/>
            <a:ext cx="1226138" cy="10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Compare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7585799" y="3921050"/>
            <a:ext cx="1226138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Compare dist[u]+w against dist[v] to decide update.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433578" y="3743491"/>
            <a:ext cx="1226137" cy="103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Update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9433578" y="3921050"/>
            <a:ext cx="1226137" cy="51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If better, set dist[v]=dist[u]+w and predecessor=v←u.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854757" y="6542286"/>
            <a:ext cx="33693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51133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19742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Distances become final step by step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1823522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a small weighted graph and trace the source, tentative distances, selected vertex, and relaxed neighbors.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226667"/>
            <a:ext cx="5486263" cy="3086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8244" y="2226667"/>
            <a:ext cx="8113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8244" y="2475607"/>
            <a:ext cx="5486263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8" name="Text 5"/>
          <p:cNvSpPr/>
          <p:nvPr/>
        </p:nvSpPr>
        <p:spPr>
          <a:xfrm>
            <a:off x="6248244" y="2570131"/>
            <a:ext cx="548626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Initialize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48244" y="2958187"/>
            <a:ext cx="54862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Source at 0; all others at ∞.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48244" y="3354983"/>
            <a:ext cx="8217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48244" y="3603923"/>
            <a:ext cx="5486263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12" name="Text 9"/>
          <p:cNvSpPr/>
          <p:nvPr/>
        </p:nvSpPr>
        <p:spPr>
          <a:xfrm>
            <a:off x="6248244" y="3698447"/>
            <a:ext cx="548626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Select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248244" y="4086503"/>
            <a:ext cx="54862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Choose the smallest tentative value.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48244" y="4483298"/>
            <a:ext cx="82835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48244" y="4732238"/>
            <a:ext cx="5486263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16" name="Text 13"/>
          <p:cNvSpPr/>
          <p:nvPr/>
        </p:nvSpPr>
        <p:spPr>
          <a:xfrm>
            <a:off x="6248244" y="4826763"/>
            <a:ext cx="548626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Relax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48244" y="5214819"/>
            <a:ext cx="54862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Update the neighbors.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48244" y="5564942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Repeat until the queue is empty.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862694" y="6542286"/>
            <a:ext cx="32900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27337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05753"/>
            <a:ext cx="1183610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55591" y="574361"/>
            <a:ext cx="11480513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Priority-queue implementation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55591" y="1478141"/>
            <a:ext cx="1183610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queue always exposes the next most promising vertex.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0" y="2484537"/>
            <a:ext cx="8113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780" y="2733477"/>
            <a:ext cx="4597285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8" name="Text 6"/>
          <p:cNvSpPr/>
          <p:nvPr/>
        </p:nvSpPr>
        <p:spPr>
          <a:xfrm>
            <a:off x="812780" y="2952421"/>
            <a:ext cx="459728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Push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780" y="3340477"/>
            <a:ext cx="50544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Push (0, source) into a min-priority queue.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1630" y="2484537"/>
            <a:ext cx="8217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81630" y="2733477"/>
            <a:ext cx="4597285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781630" y="2952421"/>
            <a:ext cx="459728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81630" y="3340477"/>
            <a:ext cx="50544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Pop the pair with the smallest distance.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80" y="5080893"/>
            <a:ext cx="82835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80" y="5329833"/>
            <a:ext cx="4597285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80" y="5424357"/>
            <a:ext cx="459728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Skip stale entries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780" y="5812413"/>
            <a:ext cx="459728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Skip stale entries when the popped value exceeds dist[u].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81630" y="5080893"/>
            <a:ext cx="8389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E3A52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81630" y="5329833"/>
            <a:ext cx="4597285" cy="190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20" name="Text 18"/>
          <p:cNvSpPr/>
          <p:nvPr/>
        </p:nvSpPr>
        <p:spPr>
          <a:xfrm>
            <a:off x="6781630" y="5548777"/>
            <a:ext cx="459728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Relax and push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81630" y="5936833"/>
            <a:ext cx="50544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Relax every neighbor and push each improved distance.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58031" y="6542286"/>
            <a:ext cx="33366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54209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PSEUDOCODE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22818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Pseudocode at a glance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1822152"/>
            <a:ext cx="6583495" cy="3925391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2326977"/>
            <a:ext cx="5872313" cy="2915741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26095" y="2505095"/>
            <a:ext cx="5445683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dist[source] = 0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dist[others] = ∞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← {(0, source)}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pq is not empty: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(d,u) ← extract-min(pq)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 &gt; dist[u], continue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neighbor v with weight w: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relax and push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45377" y="2927548"/>
            <a:ext cx="799485" cy="270173"/>
          </a:xfrm>
          <a:prstGeom prst="roundRect">
            <a:avLst>
              <a:gd name="adj" fmla="val 22112"/>
            </a:avLst>
          </a:prstGeom>
          <a:solidFill>
            <a:srgbClr val="D3EBF8"/>
          </a:solidFill>
          <a:ln/>
        </p:spPr>
      </p:sp>
      <p:sp>
        <p:nvSpPr>
          <p:cNvPr id="8" name="Text 6"/>
          <p:cNvSpPr/>
          <p:nvPr/>
        </p:nvSpPr>
        <p:spPr>
          <a:xfrm>
            <a:off x="7452035" y="2987363"/>
            <a:ext cx="119575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45377" y="3273777"/>
            <a:ext cx="4389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Shortest distances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45377" y="3706991"/>
            <a:ext cx="438912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Output: shortest distances and predecessor paths.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45377" y="4100612"/>
            <a:ext cx="4389030" cy="19050"/>
          </a:xfrm>
          <a:prstGeom prst="roundRect">
            <a:avLst>
              <a:gd name="adj" fmla="val 49999"/>
            </a:avLst>
          </a:prstGeom>
          <a:solidFill>
            <a:srgbClr val="E866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45377" y="4269839"/>
            <a:ext cx="438912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stale-entry check keeps the queue implementation correct when improved distances are pushed again.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64083" y="6542286"/>
            <a:ext cx="327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08072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876681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Complexity depends on the data structure</a:t>
            </a:r>
            <a:endParaRPr lang="en-US" sz="4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776016"/>
          <a:ext cx="11277318" cy="914400"/>
        </p:xfrm>
        <a:graphic>
          <a:graphicData uri="http://schemas.openxmlformats.org/drawingml/2006/table">
            <a:tbl>
              <a:tblPr/>
              <a:tblGrid>
                <a:gridCol w="5262729"/>
                <a:gridCol w="4134937"/>
                <a:gridCol w="187965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Representation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Time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Best fit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Adjacency matrix + linear search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O(V²)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Dense graphs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Adjacency list + binary min-heap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O((V + E) log V)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Common practical implementation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Fibonacci heap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O(E + V log V) amortized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Theoretical benchmark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189" y="4015184"/>
            <a:ext cx="5486263" cy="1778496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6" name="Text 3"/>
          <p:cNvSpPr/>
          <p:nvPr/>
        </p:nvSpPr>
        <p:spPr>
          <a:xfrm>
            <a:off x="761981" y="4244737"/>
            <a:ext cx="51814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1981" y="4576063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O(V + E)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61981" y="5320685"/>
            <a:ext cx="5181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With an adjacency list and queue.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48244" y="4659987"/>
            <a:ext cx="548626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Choose the data structure to match the graph and the implementation goal.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58328" y="6542286"/>
            <a:ext cx="33336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152"/>
            <a:ext cx="50900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26761"/>
            <a:ext cx="4632904" cy="292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Why negative edges break the greedy guarantee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3935214"/>
            <a:ext cx="4632904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Dijkstra assumes finalizing the smallest tentative distance is permanent.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later negative-weight edge can create a cheaper route after a vertex was finalized.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5248077"/>
            <a:ext cx="4632904" cy="1191022"/>
          </a:xfrm>
          <a:prstGeom prst="roundRect">
            <a:avLst>
              <a:gd name="adj" fmla="val 6270"/>
            </a:avLst>
          </a:prstGeom>
          <a:solidFill>
            <a:srgbClr val="FCF2B5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5474772"/>
            <a:ext cx="427731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Bellman-Ford when negative edges may appear. Bellman-Ford can also detect negative cycles.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162" y="1415622"/>
            <a:ext cx="542534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Initial Setup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162" y="1800185"/>
            <a:ext cx="588253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Directed compact graph with weights and source.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162" y="2289938"/>
            <a:ext cx="542534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Tentative Finalization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162" y="2674501"/>
            <a:ext cx="588253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Source finalizes vertex with smallest distance.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162" y="3164253"/>
            <a:ext cx="542534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Negative Edge Appears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162" y="3548817"/>
            <a:ext cx="588253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Later negative-weight edge creates warning marker.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162" y="4038569"/>
            <a:ext cx="542534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Cheaper Route Found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162" y="4423132"/>
            <a:ext cx="588253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Negative edge yields a cheaper path after finalization.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162" y="4912885"/>
            <a:ext cx="542534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Counterexample Conclusion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162" y="5297448"/>
            <a:ext cx="588253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Finalized distance was incorrect; highlight labels.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77895" y="6542286"/>
            <a:ext cx="222016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Q3 2026 BOARD READOUT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58031" y="6542286"/>
            <a:ext cx="33366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33224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301833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Where the algorithm is used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2185149"/>
            <a:ext cx="112773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graph model changes, but the shortest-route objective stays the same.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613918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575" y="2616949"/>
            <a:ext cx="107439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GPS and turn-by-turn navigation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3375918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0575" y="3378949"/>
            <a:ext cx="107439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Network routing protocols such as OSPF and IS-IS</a:t>
            </a:r>
            <a:endParaRPr lang="en-US" sz="2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137918"/>
            <a:ext cx="355591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0575" y="4140949"/>
            <a:ext cx="107439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Flight and travel route planning</a:t>
            </a:r>
            <a:endParaRPr lang="en-US" sz="2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4899918"/>
            <a:ext cx="355591" cy="355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0575" y="4902949"/>
            <a:ext cx="107439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Game development pathfinding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457189" y="5371723"/>
            <a:ext cx="11734506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b="1" u="sng" dirty="0">
                <a:solidFill>
                  <a:srgbClr val="204C8E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4" name="Shape 8"/>
          <p:cNvSpPr/>
          <p:nvPr/>
        </p:nvSpPr>
        <p:spPr>
          <a:xfrm>
            <a:off x="457189" y="3140968"/>
            <a:ext cx="11277318" cy="12700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5" name="Shape 9"/>
          <p:cNvSpPr/>
          <p:nvPr/>
        </p:nvSpPr>
        <p:spPr>
          <a:xfrm>
            <a:off x="457189" y="3902968"/>
            <a:ext cx="11277318" cy="12700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6" name="Shape 10"/>
          <p:cNvSpPr/>
          <p:nvPr/>
        </p:nvSpPr>
        <p:spPr>
          <a:xfrm>
            <a:off x="457189" y="4664968"/>
            <a:ext cx="11277318" cy="12700"/>
          </a:xfrm>
          <a:prstGeom prst="rect">
            <a:avLst/>
          </a:prstGeom>
          <a:solidFill>
            <a:srgbClr val="E3FD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2026-10-20T09:35:18Z</dcterms:created>
  <dcterms:modified xsi:type="dcterms:W3CDTF">2026-10-20T09:35:18Z</dcterms:modified>
</cp:coreProperties>
</file>